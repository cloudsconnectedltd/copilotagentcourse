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crews. This briefing is mandatory for all line, forestry and damage assessment staff before November 1. Attendance is recorded in the learning system.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under 45 minutes. Leave time for questions at the end.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Remind crews that readiness levels come from the Storm Restoration Playbook. Last season's L4 event was the February ice storm in Eastern Ontario.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table on the slide region by region. Two regions are not using their usual yard this season, so point those out and make sure crews in those regions know where to go.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Everyone should save the bridge details from this slide in their phone today. Do not rely on searching for it during an event.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each crew leader to repeat the three numbers back. These are checked at every storm tailboard.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rules match the Storm Restoration Playbook, section 6. They apply to contractors and mutual assistance crews too.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Outage Response Procedure, section 7. The Storm Coordinator sets the sequence within this order.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welcoming. Most incoming crews have not worked on 27.6 kV or 44 kV systems before.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reminding crews to check their call-out contact details in the storm dispatch system.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Winter Storm Season Crew Briefing 2026 to 2027</a:t>
            </a:r>
          </a:p>
        </p:txBody>
      </p:sp>
      <p:sp>
        <p:nvSpPr>
          <p:cNvPr id="3" name="Subtitle 2"/>
          <p:cNvSpPr>
            <a:spLocks noGrp="1"/>
          </p:cNvSpPr>
          <p:nvPr>
            <p:ph type="subTitle" idx="1"/>
          </p:nvPr>
        </p:nvSpPr>
        <p:spPr/>
        <p:txBody>
          <a:bodyPr/>
          <a:lstStyle/>
          <a:p>
            <a:r>
              <a:t>Distribution Operations, all regions</a:t>
            </a:r>
          </a:p>
          <a:p>
            <a:r>
              <a:t>Presented by Dale Hutchins, Storm Coordinator Lead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57200" y="274320"/>
            <a:ext cx="11247120" cy="822960"/>
          </a:xfrm>
          <a:prstGeom prst="rect">
            <a:avLst/>
          </a:prstGeom>
          <a:noFill/>
        </p:spPr>
        <p:txBody>
          <a:bodyPr wrap="none">
            <a:spAutoFit/>
          </a:bodyPr>
          <a:lstStyle/>
          <a:p>
            <a:r>
              <a:rPr sz="3200" b="1">
                <a:solidFill>
                  <a:srgbClr val="0B3D5C"/>
                </a:solidFill>
              </a:rPr>
              <a:t>Agenda</a:t>
            </a:r>
          </a:p>
        </p:txBody>
      </p:sp>
      <p:sp>
        <p:nvSpPr>
          <p:cNvPr id="3" name="TextBox 2"/>
          <p:cNvSpPr txBox="1"/>
          <p:nvPr/>
        </p:nvSpPr>
        <p:spPr>
          <a:xfrm>
            <a:off x="640080" y="1280160"/>
            <a:ext cx="10972800" cy="5029200"/>
          </a:xfrm>
          <a:prstGeom prst="rect">
            <a:avLst/>
          </a:prstGeom>
          <a:noFill/>
        </p:spPr>
        <p:txBody>
          <a:bodyPr wrap="square">
            <a:spAutoFit/>
          </a:bodyPr>
          <a:lstStyle/>
          <a:p>
            <a:pPr>
              <a:spcAft>
                <a:spcPts val="800"/>
              </a:spcAft>
            </a:pPr>
            <a:r>
              <a:rPr sz="2000"/>
              <a:t>• Season at a glance</a:t>
            </a:r>
          </a:p>
          <a:p>
            <a:pPr>
              <a:spcAft>
                <a:spcPts val="800"/>
              </a:spcAft>
            </a:pPr>
            <a:r>
              <a:rPr sz="2000"/>
              <a:t>• Where to report: this season's staging areas</a:t>
            </a:r>
          </a:p>
          <a:p>
            <a:pPr>
              <a:spcAft>
                <a:spcPts val="800"/>
              </a:spcAft>
            </a:pPr>
            <a:r>
              <a:rPr sz="2000"/>
              <a:t>• How call-outs work</a:t>
            </a:r>
          </a:p>
          <a:p>
            <a:pPr>
              <a:spcAft>
                <a:spcPts val="800"/>
              </a:spcAft>
            </a:pPr>
            <a:r>
              <a:rPr sz="2000"/>
              <a:t>• The three critical safety numbers</a:t>
            </a:r>
          </a:p>
          <a:p>
            <a:pPr>
              <a:spcAft>
                <a:spcPts val="800"/>
              </a:spcAft>
            </a:pPr>
            <a:r>
              <a:rPr sz="2000"/>
              <a:t>• Work and rest rules</a:t>
            </a:r>
          </a:p>
          <a:p>
            <a:pPr>
              <a:spcAft>
                <a:spcPts val="800"/>
              </a:spcAft>
            </a:pPr>
            <a:r>
              <a:rPr sz="2000"/>
              <a:t>• Restoration priorities</a:t>
            </a:r>
          </a:p>
          <a:p>
            <a:pPr>
              <a:spcAft>
                <a:spcPts val="800"/>
              </a:spcAft>
            </a:pPr>
            <a:r>
              <a:rPr sz="2000"/>
              <a:t>• Mutual assistance crews</a:t>
            </a:r>
          </a:p>
          <a:p>
            <a:pPr>
              <a:spcAft>
                <a:spcPts val="800"/>
              </a:spcAft>
            </a:pPr>
            <a:r>
              <a:rPr sz="2000"/>
              <a:t>• Questions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57200" y="274320"/>
            <a:ext cx="11247120" cy="822960"/>
          </a:xfrm>
          <a:prstGeom prst="rect">
            <a:avLst/>
          </a:prstGeom>
          <a:noFill/>
        </p:spPr>
        <p:txBody>
          <a:bodyPr wrap="none">
            <a:spAutoFit/>
          </a:bodyPr>
          <a:lstStyle/>
          <a:p>
            <a:r>
              <a:rPr sz="3200" b="1">
                <a:solidFill>
                  <a:srgbClr val="0B3D5C"/>
                </a:solidFill>
              </a:rPr>
              <a:t>Season at a glance</a:t>
            </a:r>
          </a:p>
        </p:txBody>
      </p:sp>
      <p:sp>
        <p:nvSpPr>
          <p:cNvPr id="3" name="TextBox 2"/>
          <p:cNvSpPr txBox="1"/>
          <p:nvPr/>
        </p:nvSpPr>
        <p:spPr>
          <a:xfrm>
            <a:off x="640080" y="1280160"/>
            <a:ext cx="10972800" cy="5029200"/>
          </a:xfrm>
          <a:prstGeom prst="rect">
            <a:avLst/>
          </a:prstGeom>
          <a:noFill/>
        </p:spPr>
        <p:txBody>
          <a:bodyPr wrap="square">
            <a:spAutoFit/>
          </a:bodyPr>
          <a:lstStyle/>
          <a:p>
            <a:pPr>
              <a:spcAft>
                <a:spcPts val="800"/>
              </a:spcAft>
            </a:pPr>
            <a:r>
              <a:rPr sz="2000"/>
              <a:t>• Winter storm season runs November 1, 2026 to March 31, 2027</a:t>
            </a:r>
          </a:p>
          <a:p>
            <a:pPr>
              <a:spcAft>
                <a:spcPts val="800"/>
              </a:spcAft>
            </a:pPr>
            <a:r>
              <a:rPr sz="2000"/>
              <a:t>• Forecast review twice daily; readiness levels Green, Amber, Red</a:t>
            </a:r>
          </a:p>
          <a:p>
            <a:pPr>
              <a:spcAft>
                <a:spcPts val="800"/>
              </a:spcAft>
            </a:pPr>
            <a:r>
              <a:rPr sz="2000"/>
              <a:t>• Last season: 11 storm events, 3 reached L3 Major, 1 reached L4 Emergency</a:t>
            </a:r>
          </a:p>
          <a:p>
            <a:pPr>
              <a:spcAft>
                <a:spcPts val="800"/>
              </a:spcAft>
            </a:pPr>
            <a:r>
              <a:rPr sz="2000"/>
              <a:t>• Focus this year: fewer strain injuries, faster damage assessment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57200" y="274320"/>
            <a:ext cx="11247120" cy="822960"/>
          </a:xfrm>
          <a:prstGeom prst="rect">
            <a:avLst/>
          </a:prstGeom>
          <a:noFill/>
        </p:spPr>
        <p:txBody>
          <a:bodyPr wrap="none">
            <a:spAutoFit/>
          </a:bodyPr>
          <a:lstStyle/>
          <a:p>
            <a:r>
              <a:rPr sz="3200" b="1">
                <a:solidFill>
                  <a:srgbClr val="0B3D5C"/>
                </a:solidFill>
              </a:rPr>
              <a:t>Where to report this season</a:t>
            </a:r>
          </a:p>
        </p:txBody>
      </p:sp>
      <p:pic>
        <p:nvPicPr>
          <p:cNvPr id="3" name="Staging area table" descr="Staging area table"/>
          <p:cNvPicPr>
            <a:picLocks noChangeAspect="1"/>
          </p:cNvPicPr>
          <p:nvPr/>
        </p:nvPicPr>
        <p:blipFill>
          <a:blip r:embed="rId2"/>
          <a:stretch>
            <a:fillRect/>
          </a:stretch>
        </p:blipFill>
        <p:spPr>
          <a:xfrm>
            <a:off x="822960" y="1188720"/>
            <a:ext cx="10515600" cy="52578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57200" y="274320"/>
            <a:ext cx="11247120" cy="822960"/>
          </a:xfrm>
          <a:prstGeom prst="rect">
            <a:avLst/>
          </a:prstGeom>
          <a:noFill/>
        </p:spPr>
        <p:txBody>
          <a:bodyPr wrap="none">
            <a:spAutoFit/>
          </a:bodyPr>
          <a:lstStyle/>
          <a:p>
            <a:r>
              <a:rPr sz="3200" b="1">
                <a:solidFill>
                  <a:srgbClr val="0B3D5C"/>
                </a:solidFill>
              </a:rPr>
              <a:t>How call-outs work</a:t>
            </a:r>
          </a:p>
        </p:txBody>
      </p:sp>
      <p:sp>
        <p:nvSpPr>
          <p:cNvPr id="3" name="TextBox 2"/>
          <p:cNvSpPr txBox="1"/>
          <p:nvPr/>
        </p:nvSpPr>
        <p:spPr>
          <a:xfrm>
            <a:off x="640080" y="1371600"/>
            <a:ext cx="5120640" cy="4572000"/>
          </a:xfrm>
          <a:prstGeom prst="rect">
            <a:avLst/>
          </a:prstGeom>
          <a:noFill/>
        </p:spPr>
        <p:txBody>
          <a:bodyPr wrap="square">
            <a:spAutoFit/>
          </a:bodyPr>
          <a:lstStyle/>
          <a:p>
            <a:pPr>
              <a:spcAft>
                <a:spcPts val="800"/>
              </a:spcAft>
            </a:pPr>
            <a:r>
              <a:rPr sz="1800"/>
              <a:t>• You receive a call-out text from the storm dispatch system</a:t>
            </a:r>
          </a:p>
          <a:p>
            <a:pPr>
              <a:spcAft>
                <a:spcPts val="800"/>
              </a:spcAft>
            </a:pPr>
            <a:r>
              <a:rPr sz="1800"/>
              <a:t>• Join the phone bridge shown on the right</a:t>
            </a:r>
          </a:p>
          <a:p>
            <a:pPr>
              <a:spcAft>
                <a:spcPts val="800"/>
              </a:spcAft>
            </a:pPr>
            <a:r>
              <a:rPr sz="1800"/>
              <a:t>• Confirm crew ID, members and ETA to staging</a:t>
            </a:r>
          </a:p>
          <a:p>
            <a:pPr>
              <a:spcAft>
                <a:spcPts val="800"/>
              </a:spcAft>
            </a:pPr>
            <a:r>
              <a:rPr sz="1800"/>
              <a:t>• No answer within 30 minutes: dispatch moves to the next crew on the list</a:t>
            </a:r>
          </a:p>
        </p:txBody>
      </p:sp>
      <p:pic>
        <p:nvPicPr>
          <p:cNvPr id="4" name="Call-out bridge card" descr="Call-out bridge card"/>
          <p:cNvPicPr>
            <a:picLocks noChangeAspect="1"/>
          </p:cNvPicPr>
          <p:nvPr/>
        </p:nvPicPr>
        <p:blipFill>
          <a:blip r:embed="rId2"/>
          <a:stretch>
            <a:fillRect/>
          </a:stretch>
        </p:blipFill>
        <p:spPr>
          <a:xfrm>
            <a:off x="6035040" y="1463040"/>
            <a:ext cx="5760720" cy="2520315"/>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57200" y="274320"/>
            <a:ext cx="11247120" cy="822960"/>
          </a:xfrm>
          <a:prstGeom prst="rect">
            <a:avLst/>
          </a:prstGeom>
          <a:noFill/>
        </p:spPr>
        <p:txBody>
          <a:bodyPr wrap="none">
            <a:spAutoFit/>
          </a:bodyPr>
          <a:lstStyle/>
          <a:p>
            <a:r>
              <a:rPr sz="3200" b="1">
                <a:solidFill>
                  <a:srgbClr val="0B3D5C"/>
                </a:solidFill>
              </a:rPr>
              <a:t>The three critical safety numbers</a:t>
            </a:r>
          </a:p>
        </p:txBody>
      </p:sp>
      <p:pic>
        <p:nvPicPr>
          <p:cNvPr id="3" name="Critical safety numbers graphic" descr="Critical safety numbers graphic"/>
          <p:cNvPicPr>
            <a:picLocks noChangeAspect="1"/>
          </p:cNvPicPr>
          <p:nvPr/>
        </p:nvPicPr>
        <p:blipFill>
          <a:blip r:embed="rId2"/>
          <a:stretch>
            <a:fillRect/>
          </a:stretch>
        </p:blipFill>
        <p:spPr>
          <a:xfrm>
            <a:off x="822960" y="1280160"/>
            <a:ext cx="10515600" cy="46736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57200" y="274320"/>
            <a:ext cx="11247120" cy="822960"/>
          </a:xfrm>
          <a:prstGeom prst="rect">
            <a:avLst/>
          </a:prstGeom>
          <a:noFill/>
        </p:spPr>
        <p:txBody>
          <a:bodyPr wrap="none">
            <a:spAutoFit/>
          </a:bodyPr>
          <a:lstStyle/>
          <a:p>
            <a:r>
              <a:rPr sz="3200" b="1">
                <a:solidFill>
                  <a:srgbClr val="0B3D5C"/>
                </a:solidFill>
              </a:rPr>
              <a:t>Work and rest rules</a:t>
            </a:r>
          </a:p>
        </p:txBody>
      </p:sp>
      <p:sp>
        <p:nvSpPr>
          <p:cNvPr id="3" name="TextBox 2"/>
          <p:cNvSpPr txBox="1"/>
          <p:nvPr/>
        </p:nvSpPr>
        <p:spPr>
          <a:xfrm>
            <a:off x="640080" y="1280160"/>
            <a:ext cx="10972800" cy="5029200"/>
          </a:xfrm>
          <a:prstGeom prst="rect">
            <a:avLst/>
          </a:prstGeom>
          <a:noFill/>
        </p:spPr>
        <p:txBody>
          <a:bodyPr wrap="square">
            <a:spAutoFit/>
          </a:bodyPr>
          <a:lstStyle/>
          <a:p>
            <a:pPr>
              <a:spcAft>
                <a:spcPts val="800"/>
              </a:spcAft>
            </a:pPr>
            <a:r>
              <a:rPr sz="2000"/>
              <a:t>• Maximum 16 consecutive hours, then at least 8 consecutive hours of rest</a:t>
            </a:r>
          </a:p>
          <a:p>
            <a:pPr>
              <a:spcAft>
                <a:spcPts val="800"/>
              </a:spcAft>
            </a:pPr>
            <a:r>
              <a:rPr sz="2000"/>
              <a:t>• Travel to and from lodging counts as work time</a:t>
            </a:r>
          </a:p>
          <a:p>
            <a:pPr>
              <a:spcAft>
                <a:spcPts val="800"/>
              </a:spcAft>
            </a:pPr>
            <a:r>
              <a:rPr sz="2000"/>
              <a:t>• Extension to 18 hours only to remove an immediate public safety hazard, approved and logged</a:t>
            </a:r>
          </a:p>
          <a:p>
            <a:pPr>
              <a:spcAft>
                <a:spcPts val="800"/>
              </a:spcAft>
            </a:pPr>
            <a:r>
              <a:rPr sz="2000"/>
              <a:t>• Meal break at least every 5 hours</a:t>
            </a:r>
          </a:p>
          <a:p>
            <a:pPr>
              <a:spcAft>
                <a:spcPts val="800"/>
              </a:spcAft>
            </a:pPr>
            <a:r>
              <a:rPr sz="2000"/>
              <a:t>• Fatigue checklist at the start of every shift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57200" y="274320"/>
            <a:ext cx="11247120" cy="822960"/>
          </a:xfrm>
          <a:prstGeom prst="rect">
            <a:avLst/>
          </a:prstGeom>
          <a:noFill/>
        </p:spPr>
        <p:txBody>
          <a:bodyPr wrap="none">
            <a:spAutoFit/>
          </a:bodyPr>
          <a:lstStyle/>
          <a:p>
            <a:r>
              <a:rPr sz="3200" b="1">
                <a:solidFill>
                  <a:srgbClr val="0B3D5C"/>
                </a:solidFill>
              </a:rPr>
              <a:t>Restoration priorities</a:t>
            </a:r>
          </a:p>
        </p:txBody>
      </p:sp>
      <p:sp>
        <p:nvSpPr>
          <p:cNvPr id="3" name="TextBox 2"/>
          <p:cNvSpPr txBox="1"/>
          <p:nvPr/>
        </p:nvSpPr>
        <p:spPr>
          <a:xfrm>
            <a:off x="640080" y="1280160"/>
            <a:ext cx="10972800" cy="5029200"/>
          </a:xfrm>
          <a:prstGeom prst="rect">
            <a:avLst/>
          </a:prstGeom>
          <a:noFill/>
        </p:spPr>
        <p:txBody>
          <a:bodyPr wrap="square">
            <a:spAutoFit/>
          </a:bodyPr>
          <a:lstStyle/>
          <a:p>
            <a:pPr>
              <a:spcAft>
                <a:spcPts val="800"/>
              </a:spcAft>
            </a:pPr>
            <a:r>
              <a:rPr sz="1800"/>
              <a:t>• 1. Public safety hazards and wires down</a:t>
            </a:r>
          </a:p>
          <a:p>
            <a:pPr>
              <a:spcAft>
                <a:spcPts val="800"/>
              </a:spcAft>
            </a:pPr>
            <a:r>
              <a:rPr sz="1800"/>
              <a:t>• 2. Hospitals and long term care homes</a:t>
            </a:r>
          </a:p>
          <a:p>
            <a:pPr>
              <a:spcAft>
                <a:spcPts val="800"/>
              </a:spcAft>
            </a:pPr>
            <a:r>
              <a:rPr sz="1800"/>
              <a:t>• 3. Water and wastewater treatment and pumping</a:t>
            </a:r>
          </a:p>
          <a:p>
            <a:pPr>
              <a:spcAft>
                <a:spcPts val="800"/>
              </a:spcAft>
            </a:pPr>
            <a:r>
              <a:rPr sz="1800"/>
              <a:t>• 4. 911 centres, police, fire and EMS</a:t>
            </a:r>
          </a:p>
          <a:p>
            <a:pPr>
              <a:spcAft>
                <a:spcPts val="800"/>
              </a:spcAft>
            </a:pPr>
            <a:r>
              <a:rPr sz="1800"/>
              <a:t>• 5. Life support customers</a:t>
            </a:r>
          </a:p>
          <a:p>
            <a:pPr>
              <a:spcAft>
                <a:spcPts val="800"/>
              </a:spcAft>
            </a:pPr>
            <a:r>
              <a:rPr sz="1800"/>
              <a:t>• 6. Stations and feeder mainlines, then taps, then individual services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57200" y="274320"/>
            <a:ext cx="11247120" cy="822960"/>
          </a:xfrm>
          <a:prstGeom prst="rect">
            <a:avLst/>
          </a:prstGeom>
          <a:noFill/>
        </p:spPr>
        <p:txBody>
          <a:bodyPr wrap="none">
            <a:spAutoFit/>
          </a:bodyPr>
          <a:lstStyle/>
          <a:p>
            <a:r>
              <a:rPr sz="3200" b="1">
                <a:solidFill>
                  <a:srgbClr val="0B3D5C"/>
                </a:solidFill>
              </a:rPr>
              <a:t>Working with mutual assistance crews</a:t>
            </a:r>
          </a:p>
        </p:txBody>
      </p:sp>
      <p:sp>
        <p:nvSpPr>
          <p:cNvPr id="3" name="TextBox 2"/>
          <p:cNvSpPr txBox="1"/>
          <p:nvPr/>
        </p:nvSpPr>
        <p:spPr>
          <a:xfrm>
            <a:off x="640080" y="1280160"/>
            <a:ext cx="10972800" cy="5029200"/>
          </a:xfrm>
          <a:prstGeom prst="rect">
            <a:avLst/>
          </a:prstGeom>
          <a:noFill/>
        </p:spPr>
        <p:txBody>
          <a:bodyPr wrap="square">
            <a:spAutoFit/>
          </a:bodyPr>
          <a:lstStyle/>
          <a:p>
            <a:pPr>
              <a:spcAft>
                <a:spcPts val="800"/>
              </a:spcAft>
            </a:pPr>
            <a:r>
              <a:rPr sz="2000"/>
              <a:t>• Incoming crews complete a 90 minute onboarding at staging</a:t>
            </a:r>
          </a:p>
          <a:p>
            <a:pPr>
              <a:spcAft>
                <a:spcPts val="800"/>
              </a:spcAft>
            </a:pPr>
            <a:r>
              <a:rPr sz="2000"/>
              <a:t>• One Harbourline escort for every 4 incoming crews</a:t>
            </a:r>
          </a:p>
          <a:p>
            <a:pPr>
              <a:spcAft>
                <a:spcPts val="800"/>
              </a:spcAft>
            </a:pPr>
            <a:r>
              <a:rPr sz="2000"/>
              <a:t>• Share our grounding and lockout rules at every tailboard</a:t>
            </a:r>
          </a:p>
          <a:p>
            <a:pPr>
              <a:spcAft>
                <a:spcPts val="800"/>
              </a:spcAft>
            </a:pPr>
            <a:r>
              <a:rPr sz="2000"/>
              <a:t>• Released longest travel distance first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57200" y="274320"/>
            <a:ext cx="11247120" cy="822960"/>
          </a:xfrm>
          <a:prstGeom prst="rect">
            <a:avLst/>
          </a:prstGeom>
          <a:noFill/>
        </p:spPr>
        <p:txBody>
          <a:bodyPr wrap="none">
            <a:spAutoFit/>
          </a:bodyPr>
          <a:lstStyle/>
          <a:p>
            <a:r>
              <a:rPr sz="3200" b="1">
                <a:solidFill>
                  <a:srgbClr val="0B3D5C"/>
                </a:solidFill>
              </a:rPr>
              <a:t>Questions</a:t>
            </a:r>
          </a:p>
        </p:txBody>
      </p:sp>
      <p:sp>
        <p:nvSpPr>
          <p:cNvPr id="3" name="TextBox 2"/>
          <p:cNvSpPr txBox="1"/>
          <p:nvPr/>
        </p:nvSpPr>
        <p:spPr>
          <a:xfrm>
            <a:off x="640080" y="1280160"/>
            <a:ext cx="10972800" cy="5029200"/>
          </a:xfrm>
          <a:prstGeom prst="rect">
            <a:avLst/>
          </a:prstGeom>
          <a:noFill/>
        </p:spPr>
        <p:txBody>
          <a:bodyPr wrap="square">
            <a:spAutoFit/>
          </a:bodyPr>
          <a:lstStyle/>
          <a:p>
            <a:pPr>
              <a:spcAft>
                <a:spcPts val="800"/>
              </a:spcAft>
            </a:pPr>
            <a:r>
              <a:rPr sz="2000"/>
              <a:t>• Contact your Regional Storm Lead</a:t>
            </a:r>
          </a:p>
          <a:p>
            <a:pPr>
              <a:spcAft>
                <a:spcPts val="800"/>
              </a:spcAft>
            </a:pPr>
            <a:r>
              <a:rPr sz="2000"/>
              <a:t>• Playbook and procedures are on the Harbourline-Operations site, Procedures library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Winter Storm Season Crew Briefing 2026 to 2027</dc:title>
  <dc:subject/>
  <dc:creator>Harbourline Energy Co.</dc:creator>
  <cp:keywords/>
  <dc:description>generated using python-pptx</dc:description>
  <cp:lastModifiedBy>Harbourline Energy Co.</cp:lastModifiedBy>
  <cp:revision>1</cp:revision>
  <dcterms:created xsi:type="dcterms:W3CDTF">2026-09-15T09:00:00Z</dcterms:created>
  <dcterms:modified xsi:type="dcterms:W3CDTF">2026-09-15T09:00:00Z</dcterms:modified>
  <cp:category/>
</cp:coreProperties>
</file>